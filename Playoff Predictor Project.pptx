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9" r:id="rId4"/>
    <p:sldId id="269" r:id="rId5"/>
    <p:sldId id="270" r:id="rId6"/>
    <p:sldId id="266" r:id="rId7"/>
    <p:sldId id="265" r:id="rId8"/>
    <p:sldId id="260" r:id="rId9"/>
    <p:sldId id="263" r:id="rId10"/>
    <p:sldId id="261" r:id="rId11"/>
    <p:sldId id="264" r:id="rId12"/>
    <p:sldId id="267" r:id="rId13"/>
    <p:sldId id="268" r:id="rId14"/>
    <p:sldId id="262" r:id="rId15"/>
    <p:sldId id="258" r:id="rId1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25495-238A-A3A6-6466-F0D4343BA865}" v="5" dt="2024-12-13T16:55:31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916238" y="5013325"/>
            <a:ext cx="6227762" cy="115252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313113" y="4797425"/>
            <a:ext cx="6227762" cy="1109663"/>
          </a:xfrm>
        </p:spPr>
        <p:txBody>
          <a:bodyPr/>
          <a:lstStyle>
            <a:lvl1pPr>
              <a:defRPr sz="3200" b="0"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13113" y="5540375"/>
            <a:ext cx="6227762" cy="696913"/>
          </a:xfr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187450" y="1844675"/>
            <a:ext cx="3744913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84763" y="1844675"/>
            <a:ext cx="3746500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921500" y="403225"/>
            <a:ext cx="1909763" cy="6121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87450" y="403225"/>
            <a:ext cx="5581650" cy="6121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51050" y="403225"/>
            <a:ext cx="6553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5516563"/>
            <a:ext cx="9144000" cy="1341437"/>
          </a:xfrm>
          <a:prstGeom prst="rect">
            <a:avLst/>
          </a:prstGeom>
          <a:gradFill rotWithShape="1">
            <a:gsLst>
              <a:gs pos="0">
                <a:srgbClr val="765E2F">
                  <a:alpha val="0"/>
                </a:srgbClr>
              </a:gs>
              <a:gs pos="100000">
                <a:schemeClr val="folHlink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uk-UA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1844675"/>
            <a:ext cx="7643813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348038" y="5013325"/>
            <a:ext cx="5327650" cy="760413"/>
          </a:xfrm>
        </p:spPr>
        <p:txBody>
          <a:bodyPr/>
          <a:lstStyle/>
          <a:p>
            <a:r>
              <a:rPr lang="en-US" sz="3600" b="1">
                <a:latin typeface="Tahoma" charset="0"/>
              </a:rPr>
              <a:t> Playoff Predictor </a:t>
            </a:r>
            <a:endParaRPr lang="uk-UA" sz="3600" b="1">
              <a:latin typeface="Tahoma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95663" y="5565775"/>
            <a:ext cx="3629025" cy="503238"/>
          </a:xfrm>
        </p:spPr>
        <p:txBody>
          <a:bodyPr/>
          <a:lstStyle/>
          <a:p>
            <a:r>
              <a:rPr lang="en-US"/>
              <a:t>Lucas &amp; Andrew </a:t>
            </a:r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3311525" cy="649288"/>
          </a:xfrm>
        </p:spPr>
        <p:txBody>
          <a:bodyPr/>
          <a:lstStyle/>
          <a:p>
            <a:r>
              <a:rPr lang="en-US" sz="3200">
                <a:latin typeface="Tahoma" charset="0"/>
              </a:rPr>
              <a:t>NFL Data</a:t>
            </a:r>
            <a:endParaRPr lang="uk-UA" sz="320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2060575"/>
            <a:ext cx="7343775" cy="446405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/>
                <a:ea typeface="굴림"/>
              </a:rPr>
              <a:t>Team NFL game statistics from 2002 – 2024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/>
                <a:ea typeface="굴림"/>
              </a:rPr>
              <a:t>Scraped from ESPN’s “hidden” API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/>
                <a:ea typeface="굴림"/>
              </a:rPr>
              <a:t>5,256 observations x 61 columns 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/>
                <a:ea typeface="굴림"/>
              </a:rPr>
              <a:t>Goal: (Based on first half of the regular season)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Predict if a Team will make Playoffs </a:t>
            </a:r>
            <a:endParaRPr lang="en-US" altLang="ko-KR" sz="1600" b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Predict if a Team in the playoffs will make the Conference Final</a:t>
            </a:r>
            <a:endParaRPr lang="en-US" altLang="ko-KR" sz="1600" b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2E21-71BA-4372-BF30-3C57C84F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281437A-54A7-4A87-5CE4-1774D3DCC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4175745" cy="649288"/>
          </a:xfrm>
        </p:spPr>
        <p:txBody>
          <a:bodyPr/>
          <a:lstStyle/>
          <a:p>
            <a:r>
              <a:rPr lang="en-US" sz="3200">
                <a:latin typeface="Tahoma" charset="0"/>
              </a:rPr>
              <a:t>Pre - Processing</a:t>
            </a:r>
            <a:endParaRPr lang="uk-UA" sz="3200">
              <a:latin typeface="Tahoma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11EB0F2-094A-F5E5-2F62-52BD72AB9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6375" y="2060575"/>
            <a:ext cx="7343775" cy="446405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 pitchFamily="34" charset="0"/>
                <a:ea typeface="굴림" charset="-127"/>
              </a:rPr>
              <a:t>Feature Engineering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Games Won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Games Lost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Opponent Win Percentage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Made Playoffs </a:t>
            </a:r>
            <a:endParaRPr lang="en-US" altLang="ko-KR" sz="1600" b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 pitchFamily="34" charset="0"/>
                <a:ea typeface="굴림" charset="-127"/>
              </a:rPr>
              <a:t>Split the data in half by # of weeks 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 pitchFamily="34" charset="0"/>
                <a:ea typeface="굴림" charset="-127"/>
              </a:rPr>
              <a:t>Created summarized columns – averaged all numeric statistics for the first half of each season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 pitchFamily="34" charset="0"/>
                <a:ea typeface="굴림" charset="-127"/>
              </a:rPr>
              <a:t>Removed unnecessary columns</a:t>
            </a:r>
          </a:p>
        </p:txBody>
      </p:sp>
    </p:spTree>
    <p:extLst>
      <p:ext uri="{BB962C8B-B14F-4D97-AF65-F5344CB8AC3E}">
        <p14:creationId xmlns:p14="http://schemas.microsoft.com/office/powerpoint/2010/main" val="243105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5EA8-3310-2DF1-46D0-6EEFD9F9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DBF296B-85E6-473E-566B-50E1A3CDA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5615905" cy="649288"/>
          </a:xfrm>
        </p:spPr>
        <p:txBody>
          <a:bodyPr/>
          <a:lstStyle/>
          <a:p>
            <a:r>
              <a:rPr lang="en-US" sz="3200">
                <a:latin typeface="Tahoma"/>
                <a:ea typeface="Tahoma"/>
                <a:cs typeface="Tahoma"/>
              </a:rPr>
              <a:t>Distribution of Targets</a:t>
            </a:r>
            <a:endParaRPr lang="en-US" sz="3200">
              <a:latin typeface="Tahoma" charset="0"/>
              <a:ea typeface="Tahoma"/>
              <a:cs typeface="Taho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48AC16-B85D-7D9C-5E35-EC94DF206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2045827"/>
            <a:ext cx="8258175" cy="1020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Almost all variables have symmetrical distributions</a:t>
            </a: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None of the variables have visible outliers </a:t>
            </a: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  <p:pic>
        <p:nvPicPr>
          <p:cNvPr id="5" name="Picture 4" descr="A graph of a distribution of teams&#10;&#10;Description automatically generated">
            <a:extLst>
              <a:ext uri="{FF2B5EF4-FFF2-40B4-BE49-F238E27FC236}">
                <a16:creationId xmlns:a16="http://schemas.microsoft.com/office/drawing/2014/main" id="{42D4F23E-DB7A-AADA-F737-05028F1C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7" y="3665080"/>
            <a:ext cx="4151671" cy="3192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BBBD2E-5489-A962-EA5F-E10A0C2FB4AA}"/>
              </a:ext>
            </a:extLst>
          </p:cNvPr>
          <p:cNvSpPr txBox="1"/>
          <p:nvPr/>
        </p:nvSpPr>
        <p:spPr>
          <a:xfrm>
            <a:off x="1017639" y="3244645"/>
            <a:ext cx="2389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0.39 Made Playoff</a:t>
            </a:r>
            <a:endParaRPr lang="en-US"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332C8-268D-EE7A-0456-94C98A859E65}"/>
              </a:ext>
            </a:extLst>
          </p:cNvPr>
          <p:cNvSpPr txBox="1"/>
          <p:nvPr/>
        </p:nvSpPr>
        <p:spPr>
          <a:xfrm>
            <a:off x="4948083" y="3244644"/>
            <a:ext cx="3598605" cy="3767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0.125 Made Conference Final</a:t>
            </a:r>
            <a:endParaRPr lang="en-US">
              <a:cs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AD288-4429-AD83-7D55-F0650B55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803" y="3665511"/>
            <a:ext cx="4113132" cy="319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3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13081-9006-64A1-D1EE-DC4C9BF6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Methods</a:t>
            </a: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4263B5-E7E7-7326-DCC5-A4AD2E9CF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060575"/>
            <a:ext cx="7343775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Random Forest Classifiers</a:t>
            </a:r>
          </a:p>
          <a:p>
            <a:pPr lvl="1">
              <a:lnSpc>
                <a:spcPct val="90000"/>
              </a:lnSpc>
              <a:buFont typeface="Courier New,monospace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Resistant to Overfitting</a:t>
            </a:r>
          </a:p>
          <a:p>
            <a:pPr lvl="1">
              <a:lnSpc>
                <a:spcPct val="90000"/>
              </a:lnSpc>
              <a:buFont typeface="Courier New,monospace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Handles High-Dimension Data</a:t>
            </a:r>
          </a:p>
          <a:p>
            <a:pPr lvl="1">
              <a:lnSpc>
                <a:spcPct val="90000"/>
              </a:lnSpc>
              <a:buFont typeface="Courier New,monospace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Can use to find Important Features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Principal Component Analysis</a:t>
            </a:r>
          </a:p>
          <a:p>
            <a:pPr lvl="1">
              <a:lnSpc>
                <a:spcPct val="90000"/>
              </a:lnSpc>
              <a:buFont typeface="Courier New,monospace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Used to reduce dimension</a:t>
            </a:r>
          </a:p>
          <a:p>
            <a:pPr lvl="1">
              <a:lnSpc>
                <a:spcPct val="90000"/>
              </a:lnSpc>
              <a:buFont typeface="Courier New,monospace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Retains specified variance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Recursive Feature Elimination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Remove least important features until desired number of features are left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400924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EE99-B751-D35D-503B-BAA8FF49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F256-75D9-2177-7511-5C587E52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RF Classifiers With PCA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48D4A5-61D9-0ABE-0818-09C97FE32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980728"/>
            <a:ext cx="7343775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First RF Classifier (Predict Playoffs)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Standardize Variables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Apply PCA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Calculate Cumulative and Individual Explained variance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Select # of Components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Split data into Training and Testing 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Apply RF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Verdana"/>
              </a:rPr>
              <a:t>Accuracy of 0.773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EA66C-B217-E9E5-79C4-590C9C15A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5" y="3861048"/>
            <a:ext cx="4389115" cy="2837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DB749-4A84-98EC-1017-6506B308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19" y="3861048"/>
            <a:ext cx="4477312" cy="283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6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3C77-4323-8AE2-D26D-3C955B32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RF Classifiers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887805A-6BC6-0FE8-571E-A18894FB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060575"/>
            <a:ext cx="7343775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First RF Classifier (Predict Playoffs)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Split data into training and testing sets</a:t>
            </a: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Recursive Feature Elimination (RFE)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Train optimal model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600" b="0" kern="0">
                <a:solidFill>
                  <a:schemeClr val="tx1"/>
                </a:solidFill>
                <a:latin typeface="Verdana"/>
                <a:ea typeface="Verdana"/>
              </a:rPr>
              <a:t>Test accuracy</a:t>
            </a:r>
            <a:endParaRPr lang="en-US" sz="1600" kern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Second RF Classifier (Predict Conference Final Appearance)</a:t>
            </a:r>
            <a:endParaRPr lang="en-US" altLang="ko-KR" sz="2000" b="0" kern="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Select only training data from first classifier that are from playoff teams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RFE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Eventually test model with predicted values from the first model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93124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9BE0-C876-0C0B-C6CC-C60C829A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6FBF9E6-6E69-A3D2-8899-5AA858EA3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5473603" cy="649288"/>
          </a:xfrm>
        </p:spPr>
        <p:txBody>
          <a:bodyPr/>
          <a:lstStyle/>
          <a:p>
            <a:r>
              <a:rPr lang="en-US" sz="3200">
                <a:latin typeface="Tahoma"/>
                <a:ea typeface="Tahoma"/>
                <a:cs typeface="Tahoma"/>
              </a:rPr>
              <a:t>RFE of Playoff Classifier</a:t>
            </a:r>
            <a:endParaRPr lang="uk-UA" sz="3200">
              <a:latin typeface="Tahoma" charset="0"/>
            </a:endParaRPr>
          </a:p>
        </p:txBody>
      </p:sp>
      <p:pic>
        <p:nvPicPr>
          <p:cNvPr id="2" name="Picture 1" descr="A graph with blue lines and dots&#10;&#10;Description automatically generated">
            <a:extLst>
              <a:ext uri="{FF2B5EF4-FFF2-40B4-BE49-F238E27FC236}">
                <a16:creationId xmlns:a16="http://schemas.microsoft.com/office/drawing/2014/main" id="{16B80F25-FF95-23A2-CCE0-FC121FB1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" y="1701023"/>
            <a:ext cx="7875637" cy="49529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4E6F860-034F-A7F6-868C-38AD004757C0}"/>
              </a:ext>
            </a:extLst>
          </p:cNvPr>
          <p:cNvSpPr/>
          <p:nvPr/>
        </p:nvSpPr>
        <p:spPr>
          <a:xfrm>
            <a:off x="2359741" y="1991032"/>
            <a:ext cx="442451" cy="4571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5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9BAC-31DD-B1F2-D6DF-3BA95398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79" y="425348"/>
            <a:ext cx="6553200" cy="1290842"/>
          </a:xfrm>
        </p:spPr>
        <p:txBody>
          <a:bodyPr/>
          <a:lstStyle/>
          <a:p>
            <a:r>
              <a:rPr lang="en-US">
                <a:cs typeface="Arial"/>
              </a:rPr>
              <a:t>Features Selected for RF 1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339D00D-6282-E1C3-699F-B2C40B638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060575"/>
            <a:ext cx="6591608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Selected Features:</a:t>
            </a: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Score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first downs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yards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sack yards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Score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Rush Attempts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Rush Yards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Penalty Yards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Games won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Games lost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13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E2D9-6BBA-4719-894C-994E9A7E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BA31396-64D6-56C3-6067-EBE23F87D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6668222" cy="649288"/>
          </a:xfrm>
        </p:spPr>
        <p:txBody>
          <a:bodyPr/>
          <a:lstStyle/>
          <a:p>
            <a:r>
              <a:rPr lang="en-US" sz="3200">
                <a:latin typeface="Tahoma"/>
                <a:ea typeface="Tahoma"/>
                <a:cs typeface="Tahoma"/>
              </a:rPr>
              <a:t>Results – RF to Predict Playoffs</a:t>
            </a:r>
            <a:endParaRPr lang="uk-UA" sz="3200">
              <a:latin typeface="Tahoma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BEC33E6-2917-BCD4-827F-593087F56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6375" y="2060575"/>
            <a:ext cx="7343775" cy="446405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F287A7-EC0A-A0E8-82DD-C6A1357B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46" y="2392414"/>
            <a:ext cx="6591608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Accuracy: 0.82</a:t>
            </a: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Precision: </a:t>
            </a: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Made playoffs: 0.76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Missed playoffs: 0.86</a:t>
            </a: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Recall: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Made Playoffs: 0.81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Missed Playoffs: 0.82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A02F9C-078A-DCF1-A0D2-0BC64E819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084" y="1711158"/>
            <a:ext cx="5338916" cy="45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1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34FA-2160-6CE9-F295-D96C8859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050" y="403225"/>
            <a:ext cx="6767051" cy="929507"/>
          </a:xfrm>
        </p:spPr>
        <p:txBody>
          <a:bodyPr/>
          <a:lstStyle/>
          <a:p>
            <a:r>
              <a:rPr lang="en-US">
                <a:cs typeface="Arial"/>
              </a:rPr>
              <a:t>Predict Conference Final Participants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FDE8894-85E2-C71A-CE9D-38811D40B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349" y="1514885"/>
            <a:ext cx="5013531" cy="3018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Select only Playoff teams data</a:t>
            </a: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RFE </a:t>
            </a: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  <a:buFont typeface="Arial"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  <p:pic>
        <p:nvPicPr>
          <p:cNvPr id="6" name="Picture 5" descr="A graph with blue lines and dots&#10;&#10;Description automatically generated">
            <a:extLst>
              <a:ext uri="{FF2B5EF4-FFF2-40B4-BE49-F238E27FC236}">
                <a16:creationId xmlns:a16="http://schemas.microsoft.com/office/drawing/2014/main" id="{404B09D3-D00B-4F3B-B04C-4FD9F129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10" y="2652296"/>
            <a:ext cx="6577780" cy="420812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F7653B3-36C3-2757-72F8-50A667D2C360}"/>
              </a:ext>
            </a:extLst>
          </p:cNvPr>
          <p:cNvSpPr/>
          <p:nvPr/>
        </p:nvSpPr>
        <p:spPr>
          <a:xfrm>
            <a:off x="3200399" y="2875935"/>
            <a:ext cx="294968" cy="2949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B491-C2BF-760E-520D-BD30BABE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38" y="636831"/>
            <a:ext cx="6553200" cy="649288"/>
          </a:xfrm>
        </p:spPr>
        <p:txBody>
          <a:bodyPr/>
          <a:lstStyle/>
          <a:p>
            <a:r>
              <a:rPr lang="en-US">
                <a:cs typeface="Arial"/>
              </a:rPr>
              <a:t>Features Selected for RF 2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7F5BFD-EB20-CC26-3F38-F0B2D9DEC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24" y="2060575"/>
            <a:ext cx="8126731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Selected Features:</a:t>
            </a: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Team Score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Team first downs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first downs from passing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third down attempts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number of plays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Rush Yards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Penalty Yards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Team Redzone Completion 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Opponent Score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third down attempts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Sacks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Opponent rush yards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Opponent fumbles</a:t>
            </a: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226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8ED3-DBF1-FD10-DAA4-23A02C3F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609702"/>
            <a:ext cx="6553200" cy="649288"/>
          </a:xfrm>
        </p:spPr>
        <p:txBody>
          <a:bodyPr/>
          <a:lstStyle/>
          <a:p>
            <a:r>
              <a:rPr lang="en-US">
                <a:cs typeface="Arial"/>
              </a:rPr>
              <a:t>Using RF Models Together</a:t>
            </a: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384D209-21B0-17C3-2BCB-6429E2587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311" y="2208058"/>
            <a:ext cx="8126731" cy="412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2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Used testing data for initial model</a:t>
            </a:r>
            <a:endParaRPr lang="en-US" altLang="ko-KR" sz="2000" b="0" kern="0">
              <a:solidFill>
                <a:schemeClr val="tx1"/>
              </a:solidFill>
              <a:latin typeface="Verdana"/>
              <a:ea typeface="굴림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Take playoff predicted teams stats and use in second model</a:t>
            </a:r>
            <a:endParaRPr lang="en-US" altLang="ko-KR" sz="20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 kern="0">
                <a:solidFill>
                  <a:schemeClr val="tx1"/>
                </a:solidFill>
                <a:latin typeface="Verdana"/>
                <a:ea typeface="굴림"/>
              </a:rPr>
              <a:t>Results for Predicting a Team will make a Conference Final Appearance:</a:t>
            </a: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Overall Accuracy = 0.74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Precision</a:t>
            </a:r>
            <a:endParaRPr lang="en-US" altLang="ko-KR" sz="1600" b="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 lvl="2">
              <a:lnSpc>
                <a:spcPct val="90000"/>
              </a:lnSpc>
              <a:buFont typeface="Wingdings,Sans-Serif"/>
              <a:buChar char="§"/>
            </a:pPr>
            <a:r>
              <a:rPr lang="en-US" sz="1600" kern="0">
                <a:solidFill>
                  <a:schemeClr val="tx1"/>
                </a:solidFill>
                <a:latin typeface="Verdana"/>
                <a:ea typeface="Verdana"/>
              </a:rPr>
              <a:t>Made Conf. Final = 0.32</a:t>
            </a:r>
          </a:p>
          <a:p>
            <a:pPr lvl="2">
              <a:lnSpc>
                <a:spcPct val="90000"/>
              </a:lnSpc>
              <a:buFont typeface="Wingdings,Sans-Serif"/>
              <a:buChar char="§"/>
            </a:pPr>
            <a:r>
              <a:rPr lang="en-US" sz="1600" kern="0">
                <a:solidFill>
                  <a:schemeClr val="tx1"/>
                </a:solidFill>
                <a:latin typeface="Verdana"/>
                <a:ea typeface="Verdana"/>
              </a:rPr>
              <a:t>Missed Conf. Final = 0.93</a:t>
            </a:r>
            <a:endParaRPr lang="en-US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 kern="0">
                <a:solidFill>
                  <a:schemeClr val="tx1"/>
                </a:solidFill>
                <a:latin typeface="Verdana"/>
                <a:ea typeface="굴림"/>
              </a:rPr>
              <a:t>Recall</a:t>
            </a:r>
            <a:endParaRPr lang="en-US" altLang="ko-KR" sz="1600" kern="0">
              <a:solidFill>
                <a:schemeClr val="tx1"/>
              </a:solidFill>
              <a:latin typeface="Verdana"/>
              <a:ea typeface="굴림"/>
            </a:endParaRPr>
          </a:p>
          <a:p>
            <a:pPr lvl="2">
              <a:lnSpc>
                <a:spcPct val="90000"/>
              </a:lnSpc>
              <a:buFont typeface="Wingdings"/>
              <a:buChar char="§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Made Conf. Final = 0.67</a:t>
            </a:r>
            <a:endParaRPr lang="en-US" altLang="ko-KR" sz="1600" b="1" kern="0">
              <a:solidFill>
                <a:schemeClr val="tx1"/>
              </a:solidFill>
              <a:latin typeface="Verdana"/>
              <a:ea typeface="굴림"/>
            </a:endParaRPr>
          </a:p>
          <a:p>
            <a:pPr lvl="2">
              <a:lnSpc>
                <a:spcPct val="90000"/>
              </a:lnSpc>
              <a:buFont typeface="Wingdings"/>
              <a:buChar char="§"/>
            </a:pPr>
            <a:r>
              <a:rPr lang="en-US" altLang="ko-KR" sz="1600" kern="0">
                <a:solidFill>
                  <a:schemeClr val="tx1"/>
                </a:solidFill>
                <a:latin typeface="Verdana"/>
                <a:ea typeface="굴림"/>
              </a:rPr>
              <a:t>Missed Conf. Final = 0.75</a:t>
            </a:r>
          </a:p>
          <a:p>
            <a:pPr lvl="2">
              <a:lnSpc>
                <a:spcPct val="90000"/>
              </a:lnSpc>
              <a:buFont typeface="Wingdings"/>
              <a:buChar char="§"/>
            </a:pPr>
            <a:endParaRPr lang="en-US" altLang="ko-KR" sz="16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 kern="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711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C1CA-70E9-7DD5-AEB7-72CA3AA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2611F72-9A02-4F1A-2899-8D66EFCC2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3991" y="745044"/>
            <a:ext cx="6587105" cy="1121236"/>
          </a:xfrm>
        </p:spPr>
        <p:txBody>
          <a:bodyPr/>
          <a:lstStyle/>
          <a:p>
            <a:r>
              <a:rPr lang="en-US" sz="3200">
                <a:latin typeface="Tahoma"/>
                <a:ea typeface="Tahoma"/>
                <a:cs typeface="Tahoma"/>
              </a:rPr>
              <a:t>Predicting Playoffs Using a 5 Feature Model </a:t>
            </a:r>
            <a:endParaRPr lang="uk-UA" sz="3200">
              <a:latin typeface="Tahoma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926CF5F-1055-D607-9BA0-340FC1BCA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365" y="2060848"/>
            <a:ext cx="7343775" cy="446405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 pitchFamily="34" charset="0"/>
                <a:ea typeface="굴림" charset="-127"/>
              </a:rPr>
              <a:t>Used 2024 Lions and Packers first half-season data to predict if they will make the playoffs 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chemeClr val="tx1"/>
                </a:solidFill>
                <a:latin typeface="Verdana"/>
                <a:ea typeface="굴림"/>
              </a:rPr>
              <a:t>5 Features Used: 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Team score (0.23)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Opponent Score (0.22)</a:t>
            </a:r>
            <a:endParaRPr lang="en-US" altLang="ko-KR" sz="160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Opponent Penalty Yards (0.21)</a:t>
            </a:r>
            <a:endParaRPr lang="en-US" altLang="ko-KR" sz="160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Games Won (0.17)</a:t>
            </a:r>
            <a:endParaRPr lang="en-US" altLang="ko-KR" sz="1600">
              <a:solidFill>
                <a:schemeClr val="tx1"/>
              </a:solidFill>
              <a:latin typeface="Verdana"/>
              <a:ea typeface="굴림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altLang="ko-KR" sz="1600" b="0">
                <a:solidFill>
                  <a:schemeClr val="tx1"/>
                </a:solidFill>
                <a:latin typeface="Verdana"/>
                <a:ea typeface="굴림"/>
              </a:rPr>
              <a:t>Games Lost (0.17)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altLang="ko-KR" sz="1600">
              <a:solidFill>
                <a:schemeClr val="tx1"/>
              </a:solidFill>
              <a:latin typeface="Verdana"/>
              <a:ea typeface="굴림"/>
            </a:endParaRPr>
          </a:p>
          <a:p>
            <a:pPr>
              <a:lnSpc>
                <a:spcPct val="90000"/>
              </a:lnSpc>
            </a:pPr>
            <a:r>
              <a:rPr lang="en-US" altLang="ko-KR" sz="2000">
                <a:solidFill>
                  <a:srgbClr val="5F5F5F"/>
                </a:solidFill>
                <a:latin typeface="Verdana" pitchFamily="34" charset="0"/>
                <a:ea typeface="굴림" charset="-127"/>
              </a:rPr>
              <a:t>Both Predicted to Make Playoffs</a:t>
            </a: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000">
              <a:solidFill>
                <a:schemeClr val="tx1"/>
              </a:solidFill>
              <a:latin typeface="Verdana" pitchFamily="34" charset="0"/>
              <a:ea typeface="굴림" charset="-127"/>
            </a:endParaRPr>
          </a:p>
        </p:txBody>
      </p:sp>
      <p:pic>
        <p:nvPicPr>
          <p:cNvPr id="2" name="Picture 1" descr="A graph with blue lines and dots&#10;&#10;Description automatically generated">
            <a:extLst>
              <a:ext uri="{FF2B5EF4-FFF2-40B4-BE49-F238E27FC236}">
                <a16:creationId xmlns:a16="http://schemas.microsoft.com/office/drawing/2014/main" id="{3F3DA24A-1763-739A-3954-44F1D8CB1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3284984"/>
            <a:ext cx="4072311" cy="260289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6DD0481-D410-AC33-0501-D54F4DFA610F}"/>
              </a:ext>
            </a:extLst>
          </p:cNvPr>
          <p:cNvSpPr/>
          <p:nvPr/>
        </p:nvSpPr>
        <p:spPr>
          <a:xfrm>
            <a:off x="5486399" y="3996812"/>
            <a:ext cx="191729" cy="2949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09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115888"/>
            <a:ext cx="6985000" cy="649287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150" y="908050"/>
            <a:ext cx="6996113" cy="561657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Arial"/>
              </a:rPr>
              <a:t>Predicted Playoffs with 82% Accuracy</a:t>
            </a:r>
          </a:p>
          <a:p>
            <a:r>
              <a:rPr lang="en-US">
                <a:solidFill>
                  <a:schemeClr val="tx1"/>
                </a:solidFill>
                <a:cs typeface="Arial"/>
              </a:rPr>
              <a:t>RF model chaining – Predicted Conference Final Appearance with 74% Accuracy</a:t>
            </a:r>
          </a:p>
          <a:p>
            <a:endParaRPr lang="en-US">
              <a:solidFill>
                <a:schemeClr val="tx1"/>
              </a:solidFill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5F5F5F"/>
      </a:dk1>
      <a:lt1>
        <a:srgbClr val="FFFFFF"/>
      </a:lt1>
      <a:dk2>
        <a:srgbClr val="006600"/>
      </a:dk2>
      <a:lt2>
        <a:srgbClr val="FFCC99"/>
      </a:lt2>
      <a:accent1>
        <a:srgbClr val="996633"/>
      </a:accent1>
      <a:accent2>
        <a:srgbClr val="CC9900"/>
      </a:accent2>
      <a:accent3>
        <a:srgbClr val="FFFFFF"/>
      </a:accent3>
      <a:accent4>
        <a:srgbClr val="505050"/>
      </a:accent4>
      <a:accent5>
        <a:srgbClr val="CAB8AD"/>
      </a:accent5>
      <a:accent6>
        <a:srgbClr val="B98A00"/>
      </a:accent6>
      <a:hlink>
        <a:srgbClr val="339933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5F5F5F"/>
        </a:dk1>
        <a:lt1>
          <a:srgbClr val="FFFFFF"/>
        </a:lt1>
        <a:dk2>
          <a:srgbClr val="006600"/>
        </a:dk2>
        <a:lt2>
          <a:srgbClr val="FFCC99"/>
        </a:lt2>
        <a:accent1>
          <a:srgbClr val="33CC33"/>
        </a:accent1>
        <a:accent2>
          <a:srgbClr val="CC9900"/>
        </a:accent2>
        <a:accent3>
          <a:srgbClr val="FFFFFF"/>
        </a:accent3>
        <a:accent4>
          <a:srgbClr val="505050"/>
        </a:accent4>
        <a:accent5>
          <a:srgbClr val="ADE2AD"/>
        </a:accent5>
        <a:accent6>
          <a:srgbClr val="B98A00"/>
        </a:accent6>
        <a:hlink>
          <a:srgbClr val="FF9900"/>
        </a:hlink>
        <a:folHlink>
          <a:srgbClr val="DFF5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5F5F5F"/>
        </a:dk1>
        <a:lt1>
          <a:srgbClr val="FFFFFF"/>
        </a:lt1>
        <a:dk2>
          <a:srgbClr val="006600"/>
        </a:dk2>
        <a:lt2>
          <a:srgbClr val="FFCC99"/>
        </a:lt2>
        <a:accent1>
          <a:srgbClr val="339966"/>
        </a:accent1>
        <a:accent2>
          <a:srgbClr val="CC9900"/>
        </a:accent2>
        <a:accent3>
          <a:srgbClr val="FFFFFF"/>
        </a:accent3>
        <a:accent4>
          <a:srgbClr val="505050"/>
        </a:accent4>
        <a:accent5>
          <a:srgbClr val="ADCAB8"/>
        </a:accent5>
        <a:accent6>
          <a:srgbClr val="B98A00"/>
        </a:accent6>
        <a:hlink>
          <a:srgbClr val="FF990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5F5F5F"/>
        </a:dk1>
        <a:lt1>
          <a:srgbClr val="FFFFFF"/>
        </a:lt1>
        <a:dk2>
          <a:srgbClr val="006600"/>
        </a:dk2>
        <a:lt2>
          <a:srgbClr val="FFCC99"/>
        </a:lt2>
        <a:accent1>
          <a:srgbClr val="00CC00"/>
        </a:accent1>
        <a:accent2>
          <a:srgbClr val="CC9900"/>
        </a:accent2>
        <a:accent3>
          <a:srgbClr val="FFFFFF"/>
        </a:accent3>
        <a:accent4>
          <a:srgbClr val="505050"/>
        </a:accent4>
        <a:accent5>
          <a:srgbClr val="AAE2AA"/>
        </a:accent5>
        <a:accent6>
          <a:srgbClr val="B98A00"/>
        </a:accent6>
        <a:hlink>
          <a:srgbClr val="FFCC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5F5F5F"/>
        </a:dk1>
        <a:lt1>
          <a:srgbClr val="FFFFFF"/>
        </a:lt1>
        <a:dk2>
          <a:srgbClr val="006600"/>
        </a:dk2>
        <a:lt2>
          <a:srgbClr val="FFCC99"/>
        </a:lt2>
        <a:accent1>
          <a:srgbClr val="996633"/>
        </a:accent1>
        <a:accent2>
          <a:srgbClr val="CC9900"/>
        </a:accent2>
        <a:accent3>
          <a:srgbClr val="FFFFFF"/>
        </a:accent3>
        <a:accent4>
          <a:srgbClr val="505050"/>
        </a:accent4>
        <a:accent5>
          <a:srgbClr val="CAB8AD"/>
        </a:accent5>
        <a:accent6>
          <a:srgbClr val="B98A00"/>
        </a:accent6>
        <a:hlink>
          <a:srgbClr val="33993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template</vt:lpstr>
      <vt:lpstr> Playoff Predictor </vt:lpstr>
      <vt:lpstr>NFL Data</vt:lpstr>
      <vt:lpstr>Pre - Processing</vt:lpstr>
      <vt:lpstr>Distribution of Targets</vt:lpstr>
      <vt:lpstr>Methods</vt:lpstr>
      <vt:lpstr>RF Classifiers With PCA</vt:lpstr>
      <vt:lpstr>RF Classifiers</vt:lpstr>
      <vt:lpstr>RFE of Playoff Classifier</vt:lpstr>
      <vt:lpstr>Features Selected for RF 1</vt:lpstr>
      <vt:lpstr>Results – RF to Predict Playoffs</vt:lpstr>
      <vt:lpstr>Predict Conference Final Participants</vt:lpstr>
      <vt:lpstr>Features Selected for RF 2</vt:lpstr>
      <vt:lpstr>Using RF Models Together</vt:lpstr>
      <vt:lpstr>Predicting Playoffs Using a 5 Feature Model </vt:lpstr>
      <vt:lpstr>Conclusion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-</dc:creator>
  <cp:revision>5</cp:revision>
  <dcterms:created xsi:type="dcterms:W3CDTF">2005-08-10T12:04:41Z</dcterms:created>
  <dcterms:modified xsi:type="dcterms:W3CDTF">2024-12-13T16:56:03Z</dcterms:modified>
</cp:coreProperties>
</file>